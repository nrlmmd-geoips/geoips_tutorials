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8" r:id="rId4"/>
    <p:sldId id="261" r:id="rId5"/>
    <p:sldId id="278" r:id="rId6"/>
    <p:sldId id="269" r:id="rId7"/>
    <p:sldId id="281" r:id="rId8"/>
    <p:sldId id="282" r:id="rId9"/>
    <p:sldId id="280" r:id="rId10"/>
    <p:sldId id="284" r:id="rId11"/>
    <p:sldId id="298" r:id="rId12"/>
    <p:sldId id="290" r:id="rId13"/>
    <p:sldId id="279" r:id="rId14"/>
    <p:sldId id="270" r:id="rId15"/>
    <p:sldId id="285" r:id="rId16"/>
    <p:sldId id="277" r:id="rId17"/>
    <p:sldId id="294" r:id="rId18"/>
    <p:sldId id="295" r:id="rId19"/>
    <p:sldId id="296" r:id="rId20"/>
    <p:sldId id="2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924-9754-96AD-B23A-BFCF70B65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DE993-DB0D-7695-5B88-D92D0DA69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5C154-B1DF-1C6A-5CA1-34545F22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0C65B-A27E-4F27-4837-70D57EBB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BBE9-537E-750A-ADF1-7DC58505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3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F7C7-3F27-417F-2499-3CA41AF3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48258-AA81-FEF4-0F0F-681F1E23B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F2B3C-0015-49EA-16D0-503345E5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78F3E-8C62-CA3A-41CB-EEAEBA3C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82C07-493E-461E-FFE7-815261DF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7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BD9F-0479-8FB4-7388-A89F30B3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98014-1E29-7D65-3466-F2C4D87F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AC62-571C-6A77-A1F7-0F9AAA75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25E63-76F0-B862-F982-EC5324FD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D5DB2-C702-E8AA-6BCD-AA66661D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4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A1E9-F442-FBB8-6EA4-5FBD45FB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38FC-2CE8-4A70-13C0-C1B89E4EC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503B1-2CC6-9419-E91F-679261164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2F608-0210-083A-E373-2955C045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C469E-E8A5-313D-E2E9-37C1DDE3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CF27C-E94E-5F96-C022-B77F6BC7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8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ED29-0E48-64D0-FB18-C3BA92E7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C8A1-078B-1576-588F-78C6E6C08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DDB41-4A54-D040-6764-20F1BAF0F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171DC-C9F5-1140-6691-BD0A7D7D1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F7069-74D6-D925-A493-71DCE7C80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EB5DD-1EF2-057B-A107-9D622730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DCB50E-C29E-4228-9D8B-28C93119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72211-F5F2-8AE8-D588-6D119959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9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5382-A753-DF0F-3B62-4DBF630A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0FFE9-95E1-D10C-69CE-EEC0BDEA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5A82B-8263-42E1-498C-7D24F4C7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804FA-EF57-A966-A20C-84161761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7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5E8BD-55B5-16A5-F6AE-ED1B8D70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4BB79-763D-2A73-A6D0-E8D7B6E0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C8D1D-F802-F142-E875-9BFF76E3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7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3E5A-DF50-FB49-1F22-A97072D0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9909-9DF8-94A5-F979-557B504C1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69ED5-2F86-A1CF-6F25-0753BC567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9066D-74D7-F6BE-C130-FC2C8BA4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DB236-CBE0-21B4-288C-42C944E5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43A7F-57EC-9B59-B543-150BB70A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9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5F24-C1AE-B923-93D6-6D0DF279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2AE04-1D90-9361-1F59-936AF6149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692EB-ACCF-5844-599E-3246FB7EA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CA42E-C470-458C-6A5D-E9067AAF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99DC6-D413-6B5F-7EB3-16FE81F90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B07DF-6FB7-9EEB-22A4-07AD2448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5CA5-BAF3-29FE-7ED0-3F1F4B7F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2C8FE-2D91-055E-2898-4BCC50413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CEE55-B27F-DFD7-A3C0-58646B97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3AF4F-0B17-041A-DC71-8D09E4D8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51089-DF59-A5B0-5EAE-096183ED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9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FE3C1-63E7-FC1F-05C2-385EFB64D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9BF01-2252-5F1B-3663-C40CFC547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DC077-716B-524D-ACAD-6FAC3CF8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AC2E-56A3-24E2-F494-279DF455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B957-8E61-6172-959A-CAEC8618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7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C6F36-637E-5452-2814-7BA7D81F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24DAA-07DB-8FAB-4FF3-5965D80D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44800-C21C-AAEF-E950-47C5BB3DA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D41BA-12B9-4A4B-B8FE-848935264CA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5A98E-291C-3B64-9FE9-5892C63FC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2D7D0-E1E6-2FD7-CDB2-44425634E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6CF3C-1B91-43D4-97CA-1609687E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rlmmd-geoips.github.io/geoips/tutorials/extending-with-plugins/static_sector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2813-3646-8F65-66CD-D9E605255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GeoIPS</a:t>
            </a:r>
            <a:r>
              <a:rPr lang="en-US" dirty="0"/>
              <a:t> Workshop 2026: </a:t>
            </a:r>
            <a:br>
              <a:rPr lang="en-US" dirty="0"/>
            </a:br>
            <a:r>
              <a:rPr lang="en-US" dirty="0"/>
              <a:t>Sectors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A0431-3C0F-3A8C-11E3-46593923B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Thorpe </a:t>
            </a:r>
          </a:p>
          <a:p>
            <a:r>
              <a:rPr lang="en-US" dirty="0"/>
              <a:t>20260721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F5DD0-FCEB-4AC9-D818-2137704D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5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AD4B-ECA0-25B7-FD05-D85469CB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66B43-4CF5-1093-36C0-9CA905791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Geographic sectors in </a:t>
            </a:r>
            <a:r>
              <a:rPr lang="en-US" dirty="0" err="1"/>
              <a:t>GeoIPS</a:t>
            </a:r>
            <a:r>
              <a:rPr lang="en-US" dirty="0"/>
              <a:t> </a:t>
            </a:r>
          </a:p>
          <a:p>
            <a:r>
              <a:rPr lang="en-US" dirty="0"/>
              <a:t>Capabilities of sectors in </a:t>
            </a:r>
            <a:r>
              <a:rPr lang="en-US" dirty="0" err="1"/>
              <a:t>GeoIPS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Static Sectors</a:t>
            </a:r>
          </a:p>
          <a:p>
            <a:pPr lvl="1"/>
            <a:r>
              <a:rPr lang="en-US" dirty="0"/>
              <a:t>Dynamic Sectors</a:t>
            </a:r>
          </a:p>
          <a:p>
            <a:r>
              <a:rPr lang="en-US" dirty="0"/>
              <a:t>Sectors and Sectoring backend </a:t>
            </a:r>
          </a:p>
          <a:p>
            <a:r>
              <a:rPr lang="en-US" dirty="0"/>
              <a:t>Sector Examples:</a:t>
            </a:r>
          </a:p>
          <a:p>
            <a:pPr lvl="1"/>
            <a:r>
              <a:rPr lang="en-US" dirty="0"/>
              <a:t>Static: Vera Cruz Oil spill</a:t>
            </a:r>
          </a:p>
          <a:p>
            <a:pPr lvl="1"/>
            <a:r>
              <a:rPr lang="en-US" dirty="0"/>
              <a:t>Dynamic: Iceberg A23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085B0-174E-57D4-A351-C7EE51F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5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36ED-E918-8D1A-3E37-35920A36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GeoIPS</a:t>
            </a:r>
            <a:r>
              <a:rPr lang="en-US" dirty="0"/>
              <a:t> sectors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586A1-C87D-EAD4-92EB-7EBFC7F48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1189678" cy="33730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YAML defined sectors</a:t>
            </a:r>
          </a:p>
          <a:p>
            <a:r>
              <a:rPr lang="en-US" dirty="0"/>
              <a:t>Set style helps interchange projection type, size, and resolution</a:t>
            </a:r>
          </a:p>
          <a:p>
            <a:r>
              <a:rPr lang="en-US" dirty="0"/>
              <a:t>Wide coverage of applications between static and dynamic sectors </a:t>
            </a:r>
          </a:p>
          <a:p>
            <a:r>
              <a:rPr lang="en-US" dirty="0"/>
              <a:t>Interchangeable; same sector for different products, readers, and data sources</a:t>
            </a:r>
          </a:p>
          <a:p>
            <a:r>
              <a:rPr lang="en-US" dirty="0"/>
              <a:t>55 static sectors and 23 dynamic sectors</a:t>
            </a:r>
          </a:p>
          <a:p>
            <a:r>
              <a:rPr lang="en-US" dirty="0"/>
              <a:t>Defined structure and format, see documentation: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Extend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GeoIPS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 with a Static Sector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83263-159A-F485-82F3-671264A2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79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499A-EC76-7AF6-314E-36F5722A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sectors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9058-9C22-CFD0-C8B2-49287916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to visualize sectors:</a:t>
            </a:r>
          </a:p>
          <a:p>
            <a:pPr lvl="1"/>
            <a:r>
              <a:rPr lang="en-US" dirty="0" err="1"/>
              <a:t>geoips</a:t>
            </a:r>
            <a:r>
              <a:rPr lang="en-US" dirty="0"/>
              <a:t> test sector &lt;</a:t>
            </a:r>
            <a:r>
              <a:rPr lang="en-US" dirty="0" err="1"/>
              <a:t>sector_name</a:t>
            </a:r>
            <a:r>
              <a:rPr lang="en-US" dirty="0"/>
              <a:t>&gt;</a:t>
            </a:r>
          </a:p>
          <a:p>
            <a:pPr lvl="2"/>
            <a:r>
              <a:rPr lang="en-US" dirty="0"/>
              <a:t>Displays sector in defined projection</a:t>
            </a:r>
          </a:p>
          <a:p>
            <a:pPr lvl="1"/>
            <a:r>
              <a:rPr lang="en-US" dirty="0" err="1"/>
              <a:t>geoips</a:t>
            </a:r>
            <a:r>
              <a:rPr lang="en-US" dirty="0"/>
              <a:t> test sector &lt;</a:t>
            </a:r>
            <a:r>
              <a:rPr lang="en-US" dirty="0" err="1"/>
              <a:t>sector_name</a:t>
            </a:r>
            <a:r>
              <a:rPr lang="en-US" dirty="0"/>
              <a:t>&gt; --overlay: </a:t>
            </a:r>
          </a:p>
          <a:p>
            <a:pPr lvl="2"/>
            <a:r>
              <a:rPr lang="en-US" dirty="0"/>
              <a:t>Overlays sector onto global equidistant cylindrical projection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CB0C4-2B13-F84C-2135-F3F8665E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A map of the continent&#10;&#10;AI-generated content may be incorrect.">
            <a:extLst>
              <a:ext uri="{FF2B5EF4-FFF2-40B4-BE49-F238E27FC236}">
                <a16:creationId xmlns:a16="http://schemas.microsoft.com/office/drawing/2014/main" id="{5DB76818-0804-DF17-5792-E41DF3C43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073" y="4001294"/>
            <a:ext cx="1885107" cy="2678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map of the world&#10;&#10;AI-generated content may be incorrect.">
            <a:extLst>
              <a:ext uri="{FF2B5EF4-FFF2-40B4-BE49-F238E27FC236}">
                <a16:creationId xmlns:a16="http://schemas.microsoft.com/office/drawing/2014/main" id="{982CD874-7095-B678-140D-4B8F748DD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700" y="4001293"/>
            <a:ext cx="5357674" cy="2678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1916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8683-B9F2-94DD-27D1-81EB1C82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212C5-E572-FC97-8977-AC7132622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want to capture a static region on Earth, and use it for any sensor, product, or algorithm?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A9CE2-D37F-5EE9-87C4-E5FDC4C0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2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BFFD-E844-C444-61B9-DB070093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Sector Capabilities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93D8-8DD3-003D-5EE2-C2F720906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94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Fixed in space and time</a:t>
            </a:r>
          </a:p>
          <a:p>
            <a:r>
              <a:rPr lang="en-US" sz="1600" dirty="0"/>
              <a:t>Tunable parameters:</a:t>
            </a:r>
          </a:p>
          <a:p>
            <a:pPr lvl="1"/>
            <a:r>
              <a:rPr lang="en-US" sz="1400" dirty="0"/>
              <a:t>Center latitude &amp; longitude</a:t>
            </a:r>
          </a:p>
          <a:p>
            <a:pPr lvl="1"/>
            <a:r>
              <a:rPr lang="en-US" sz="1400" dirty="0"/>
              <a:t>Projection type (EQC)</a:t>
            </a:r>
          </a:p>
          <a:p>
            <a:pPr lvl="1"/>
            <a:r>
              <a:rPr lang="en-US" sz="1400" dirty="0"/>
              <a:t>Units (meters), used in resolution</a:t>
            </a:r>
          </a:p>
          <a:p>
            <a:pPr lvl="1"/>
            <a:r>
              <a:rPr lang="en-US" sz="1400" dirty="0"/>
              <a:t>Resolution of each pixel (in user defined units; km/m)</a:t>
            </a:r>
          </a:p>
          <a:p>
            <a:pPr lvl="1"/>
            <a:r>
              <a:rPr lang="en-US" sz="1400" dirty="0"/>
              <a:t>Shape (height/width in pixels)</a:t>
            </a:r>
          </a:p>
          <a:p>
            <a:pPr lvl="1"/>
            <a:r>
              <a:rPr lang="en-US" sz="1400" dirty="0"/>
              <a:t>Center (almost always 0,0)</a:t>
            </a:r>
          </a:p>
          <a:p>
            <a:r>
              <a:rPr lang="en-US" sz="1600" dirty="0"/>
              <a:t>Tunable metadata:</a:t>
            </a:r>
          </a:p>
          <a:p>
            <a:pPr lvl="1"/>
            <a:r>
              <a:rPr lang="en-US" sz="1400" dirty="0"/>
              <a:t>Region description; can be used in output metadata and formatting</a:t>
            </a:r>
            <a:endParaRPr lang="en-US" sz="1400" dirty="0">
              <a:sym typeface="Wingdings" panose="05000000000000000000" pitchFamily="2" charset="2"/>
            </a:endParaRP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Continent (EX: </a:t>
            </a:r>
            <a:r>
              <a:rPr lang="en-US" sz="1400" dirty="0" err="1">
                <a:sym typeface="Wingdings" panose="05000000000000000000" pitchFamily="2" charset="2"/>
              </a:rPr>
              <a:t>NorthAmerica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Country  (EX: USA)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Area  (EX: </a:t>
            </a:r>
            <a:r>
              <a:rPr lang="en-US" sz="1400" dirty="0" err="1">
                <a:sym typeface="Wingdings" panose="05000000000000000000" pitchFamily="2" charset="2"/>
              </a:rPr>
              <a:t>WestCoast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Subarea  (EX: </a:t>
            </a:r>
            <a:r>
              <a:rPr lang="en-US" sz="1400" dirty="0" err="1">
                <a:sym typeface="Wingdings" panose="05000000000000000000" pitchFamily="2" charset="2"/>
              </a:rPr>
              <a:t>DeathValley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State  (EX: California)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City  (EX: Shoshone)</a:t>
            </a:r>
          </a:p>
          <a:p>
            <a:r>
              <a:rPr lang="en-US" sz="1600" dirty="0">
                <a:sym typeface="Wingdings" panose="05000000000000000000" pitchFamily="2" charset="2"/>
              </a:rPr>
              <a:t>Downsides: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Custom projections are hard to implement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1811-8C0C-E191-8FA4-20AE32AC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068BB-F22F-5997-CF9A-C47CD051E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91" y="778758"/>
            <a:ext cx="3634618" cy="2650242"/>
          </a:xfrm>
          <a:prstGeom prst="rect">
            <a:avLst/>
          </a:prstGeom>
        </p:spPr>
      </p:pic>
      <p:pic>
        <p:nvPicPr>
          <p:cNvPr id="9" name="Picture 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9571A8D-5C36-1A45-ED7D-3B82E9AC0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067" y="4168343"/>
            <a:ext cx="3920066" cy="202894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E1E57-37FF-6730-8706-755B86E4D35A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182100" y="3429000"/>
            <a:ext cx="0" cy="73934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67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FC93-F41A-8D21-EF32-095C6F0B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2A3C-6644-3E3C-78E9-4A5D57BB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Oil Spill outside of Veracruz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EEEE-9323-9B01-FEC1-8ACA0FDC30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New coverage of an oil spill in February, March of 2026</a:t>
            </a:r>
          </a:p>
          <a:p>
            <a:r>
              <a:rPr lang="en-US" dirty="0"/>
              <a:t>Detections of oil spills from beaches, fishing communities, and surrounding habitats </a:t>
            </a:r>
          </a:p>
          <a:p>
            <a:r>
              <a:rPr lang="en-US" dirty="0"/>
              <a:t>Government owned Pemex initially denied leakage in early cases, but admitted fault in April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10ED5-0F4C-AA32-C18C-DE7BD32F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9D33D-EFE4-A2BE-3951-7A4F4A210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690688"/>
            <a:ext cx="4361258" cy="28158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F6C208-50A4-87B4-3C1B-B3EC1DEA4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005" y="3728286"/>
            <a:ext cx="4262071" cy="24486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644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ap&#10;&#10;AI-generated content may be incorrect.">
            <a:extLst>
              <a:ext uri="{FF2B5EF4-FFF2-40B4-BE49-F238E27FC236}">
                <a16:creationId xmlns:a16="http://schemas.microsoft.com/office/drawing/2014/main" id="{504A068F-1CBD-4053-410B-A8B97BAD8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941342"/>
            <a:ext cx="6123640" cy="32393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E85043-6EB2-F09D-F8A5-D360E60F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Sector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6973-446A-72F0-D130-AB980B9581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pass failed using VIIRS data to identify a sector or detection</a:t>
            </a:r>
          </a:p>
          <a:p>
            <a:r>
              <a:rPr lang="en-US" dirty="0"/>
              <a:t>Resolution limited…!</a:t>
            </a:r>
          </a:p>
          <a:p>
            <a:r>
              <a:rPr lang="en-US" dirty="0"/>
              <a:t>Reached out to AP New’s Will Jarrett, success, but used proprietary data source</a:t>
            </a:r>
          </a:p>
          <a:p>
            <a:r>
              <a:rPr lang="en-US" dirty="0"/>
              <a:t>Sector derived!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BA699-AEBD-0160-B9A5-B41224BE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0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6233-2426-84C9-1511-54984C83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Oil Spill outside of Veracruz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469F-2E03-FE82-CC57-DD124D024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4999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News sources, and scientists cited using satellite imagery for oil spill identifications</a:t>
            </a:r>
          </a:p>
          <a:p>
            <a:r>
              <a:rPr lang="en-US" dirty="0"/>
              <a:t>Only AP News displayed imagery with minimal information…..</a:t>
            </a:r>
          </a:p>
          <a:p>
            <a:r>
              <a:rPr lang="en-US" dirty="0"/>
              <a:t>Goal: Create a static sector to capture oil spills from Pemex oil rigs…?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48960-06F2-5908-2F25-BFFA82D1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CAAFF0-8485-F5D7-354D-DA35D959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262" y="1825625"/>
            <a:ext cx="6398676" cy="435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C768-09E9-FE61-4842-83810A1A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Sector Example: Derived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9347-35B5-9DB1-648E-EA11C75794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Time: 20260213T171453Z </a:t>
            </a:r>
          </a:p>
          <a:p>
            <a:r>
              <a:rPr lang="en-US" dirty="0"/>
              <a:t>Latitude: 19.27517</a:t>
            </a:r>
          </a:p>
          <a:p>
            <a:r>
              <a:rPr lang="en-US" dirty="0"/>
              <a:t>Longitude: -92.22473</a:t>
            </a:r>
          </a:p>
          <a:p>
            <a:r>
              <a:rPr lang="en-US" dirty="0"/>
              <a:t>Resolution: 50 meter</a:t>
            </a:r>
          </a:p>
          <a:p>
            <a:r>
              <a:rPr lang="en-US" dirty="0"/>
              <a:t>Projection: </a:t>
            </a:r>
            <a:r>
              <a:rPr lang="en-US" dirty="0" err="1"/>
              <a:t>eqc</a:t>
            </a:r>
            <a:endParaRPr lang="en-US" dirty="0"/>
          </a:p>
          <a:p>
            <a:r>
              <a:rPr lang="en-US" dirty="0"/>
              <a:t>Size: 20 km goal diameter, 400 by 400 size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EDD03-0E90-E374-9A38-813577E3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 descr="A picture containing text, map&#10;&#10;AI-generated content may be incorrect.">
            <a:extLst>
              <a:ext uri="{FF2B5EF4-FFF2-40B4-BE49-F238E27FC236}">
                <a16:creationId xmlns:a16="http://schemas.microsoft.com/office/drawing/2014/main" id="{A478C47E-7449-1C4F-0171-776DE4570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691" y="1643979"/>
            <a:ext cx="4369818" cy="4398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940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7D60A-4B12-E384-2E9F-A16B0BD5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4F92-A322-C52E-9C91-E3F1BECA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Sector: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DEC0-F963-9C1F-43A8-C80893721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402356" cy="945567"/>
          </a:xfrm>
        </p:spPr>
        <p:txBody>
          <a:bodyPr/>
          <a:lstStyle/>
          <a:p>
            <a:r>
              <a:rPr lang="en-US" dirty="0"/>
              <a:t>Derived sector can be applied to any product!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6AE33-B0FB-4884-D117-6396BA95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594974-CD13-ED4A-6006-EF46C1F18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756"/>
          <a:stretch>
            <a:fillRect/>
          </a:stretch>
        </p:blipFill>
        <p:spPr>
          <a:xfrm>
            <a:off x="7675984" y="904513"/>
            <a:ext cx="4145902" cy="5048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D67675-2D1B-FCDD-96BE-C7D2A30C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28" b="25201"/>
          <a:stretch>
            <a:fillRect/>
          </a:stretch>
        </p:blipFill>
        <p:spPr>
          <a:xfrm>
            <a:off x="370114" y="3495199"/>
            <a:ext cx="6015679" cy="245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3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1C1BF-DF58-3676-D24C-FDB5E1E5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12</a:t>
            </a:fld>
            <a:endParaRPr lang="en-US"/>
          </a:p>
        </p:txBody>
      </p:sp>
      <p:pic>
        <p:nvPicPr>
          <p:cNvPr id="16" name="Picture 15" descr="Text&#10;&#10;AI-generated content may be incorrect.">
            <a:extLst>
              <a:ext uri="{FF2B5EF4-FFF2-40B4-BE49-F238E27FC236}">
                <a16:creationId xmlns:a16="http://schemas.microsoft.com/office/drawing/2014/main" id="{FB1E7EBC-EECE-EAC8-3951-334B446C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341" y="0"/>
            <a:ext cx="7673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4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0F39-F787-9049-7E42-B71A53E9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FC16-2590-5F4A-0B40-667D7BFA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4D5A-B7A3-DC86-DCD6-5A7426E36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want to capture a </a:t>
            </a:r>
            <a:r>
              <a:rPr lang="en-US" i="1" dirty="0"/>
              <a:t>dynamic </a:t>
            </a:r>
            <a:r>
              <a:rPr lang="en-US" dirty="0"/>
              <a:t>region or</a:t>
            </a:r>
            <a:r>
              <a:rPr lang="en-US" i="1" dirty="0"/>
              <a:t> transient </a:t>
            </a:r>
            <a:r>
              <a:rPr lang="en-US" dirty="0"/>
              <a:t>phenomenon</a:t>
            </a:r>
            <a:r>
              <a:rPr lang="en-US" i="1" dirty="0"/>
              <a:t> </a:t>
            </a:r>
            <a:r>
              <a:rPr lang="en-US" dirty="0"/>
              <a:t>on Earth, and use it for any sensor, product, or algorithm?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129B9-D714-BC97-9321-36B99FD8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71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C92D-07EE-CF1D-0DCC-9380D174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36EE-2F82-F0D9-8428-AD4A48A7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Capabilities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0FC0B-B496-2CEE-43F0-E9955C3F3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94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Capture transient activity, can be dynamic in space and/or time</a:t>
            </a:r>
          </a:p>
          <a:p>
            <a:r>
              <a:rPr lang="en-US" dirty="0"/>
              <a:t>Work in conjunction with track files and parsers</a:t>
            </a:r>
          </a:p>
          <a:p>
            <a:r>
              <a:rPr lang="en-US" dirty="0"/>
              <a:t>Tunable parameters:</a:t>
            </a:r>
          </a:p>
          <a:p>
            <a:pPr lvl="1"/>
            <a:r>
              <a:rPr lang="en-US" dirty="0"/>
              <a:t>Pixel width (meters)</a:t>
            </a:r>
          </a:p>
          <a:p>
            <a:pPr lvl="1"/>
            <a:r>
              <a:rPr lang="en-US" dirty="0"/>
              <a:t>Pixel height (meters)</a:t>
            </a:r>
          </a:p>
          <a:p>
            <a:pPr lvl="1"/>
            <a:r>
              <a:rPr lang="en-US" dirty="0"/>
              <a:t>Number lines (pixels)</a:t>
            </a:r>
          </a:p>
          <a:p>
            <a:pPr lvl="1"/>
            <a:r>
              <a:rPr lang="en-US" dirty="0"/>
              <a:t>Number samples (pixels)</a:t>
            </a:r>
          </a:p>
          <a:p>
            <a:r>
              <a:rPr lang="en-US" dirty="0"/>
              <a:t>Tunable metadata: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Docstring</a:t>
            </a:r>
          </a:p>
          <a:p>
            <a:r>
              <a:rPr lang="en-US" dirty="0">
                <a:sym typeface="Wingdings" panose="05000000000000000000" pitchFamily="2" charset="2"/>
              </a:rPr>
              <a:t>Downsides: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 well documented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F060-24EE-23B0-9440-D7E2CB8E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A satellite image of a storm&#10;&#10;AI-generated content may be incorrect.">
            <a:extLst>
              <a:ext uri="{FF2B5EF4-FFF2-40B4-BE49-F238E27FC236}">
                <a16:creationId xmlns:a16="http://schemas.microsoft.com/office/drawing/2014/main" id="{565FAFE2-7305-77C7-3895-AC8E04602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56" y="2437062"/>
            <a:ext cx="3406637" cy="3445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DDA77-33C6-BB74-6EB8-8EA008B90266}"/>
              </a:ext>
            </a:extLst>
          </p:cNvPr>
          <p:cNvSpPr txBox="1"/>
          <p:nvPr/>
        </p:nvSpPr>
        <p:spPr>
          <a:xfrm>
            <a:off x="8382000" y="5932548"/>
            <a:ext cx="3093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GeoIPS</a:t>
            </a:r>
            <a:r>
              <a:rPr lang="en-US" sz="1400" i="1" dirty="0"/>
              <a:t> utilizes dynamic sectors for Tropical Cyclones </a:t>
            </a:r>
          </a:p>
          <a:p>
            <a:r>
              <a:rPr lang="en-US" sz="1200" i="1" dirty="0"/>
              <a:t>(imagery via </a:t>
            </a:r>
            <a:r>
              <a:rPr lang="en-US" sz="1200" i="1" dirty="0" err="1"/>
              <a:t>TCWeb</a:t>
            </a:r>
            <a:r>
              <a:rPr lang="en-US" sz="12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5722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666B-82A4-92F2-0E06-38A7E54A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4512-F1F2-A01A-7054-EF99809D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9CEC0-25E1-AB14-9F23-DA44325B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92567-87CF-4FD9-12FC-B9AF156E2F26}"/>
              </a:ext>
            </a:extLst>
          </p:cNvPr>
          <p:cNvSpPr txBox="1"/>
          <p:nvPr/>
        </p:nvSpPr>
        <p:spPr>
          <a:xfrm>
            <a:off x="838199" y="1690687"/>
            <a:ext cx="667149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Iceberg tracking: A23A, long-living iceberg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Only visible by polar satellites, and transient in time and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Application: Tracking phytoplankton blooms due to iceberg mineral (iron) deposits </a:t>
            </a:r>
          </a:p>
        </p:txBody>
      </p:sp>
      <p:pic>
        <p:nvPicPr>
          <p:cNvPr id="1030" name="Picture 6" descr="A map of the Southern Ocean and South Atlantic with Antarctica at the bottom, showing Iceberg A-23A’s path as a generally northward route with several loops and deviations.">
            <a:extLst>
              <a:ext uri="{FF2B5EF4-FFF2-40B4-BE49-F238E27FC236}">
                <a16:creationId xmlns:a16="http://schemas.microsoft.com/office/drawing/2014/main" id="{ABD60C51-EE73-AC20-D1EA-733FCD8B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502" y="1390902"/>
            <a:ext cx="4516492" cy="455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USNIC header logo, penguin and bear">
            <a:extLst>
              <a:ext uri="{FF2B5EF4-FFF2-40B4-BE49-F238E27FC236}">
                <a16:creationId xmlns:a16="http://schemas.microsoft.com/office/drawing/2014/main" id="{CD52006F-73CA-A464-056A-D67EB3AE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268" y="365125"/>
            <a:ext cx="857064" cy="102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182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8B4C-14D6-3962-6270-7944D6A3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Changes needed for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5447-9F5F-36DC-095B-CAD6D5373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243061" cy="4667250"/>
          </a:xfrm>
        </p:spPr>
        <p:txBody>
          <a:bodyPr>
            <a:normAutofit/>
          </a:bodyPr>
          <a:lstStyle/>
          <a:p>
            <a:r>
              <a:rPr lang="en-US" dirty="0"/>
              <a:t>Created an iceberg dynamic sector file (</a:t>
            </a:r>
            <a:r>
              <a:rPr lang="en-US" dirty="0" err="1"/>
              <a:t>yaml</a:t>
            </a:r>
            <a:r>
              <a:rPr lang="en-US" dirty="0"/>
              <a:t>)</a:t>
            </a:r>
          </a:p>
          <a:p>
            <a:r>
              <a:rPr lang="en-US" dirty="0"/>
              <a:t>Created a sample iceberg track file (csv)</a:t>
            </a:r>
          </a:p>
          <a:p>
            <a:r>
              <a:rPr lang="en-US" dirty="0"/>
              <a:t>Created an iceberg dynamic track file parser (csv to list)</a:t>
            </a:r>
          </a:p>
          <a:p>
            <a:r>
              <a:rPr lang="en-US" dirty="0"/>
              <a:t>Modified sector utilities to create a dynamic </a:t>
            </a:r>
            <a:r>
              <a:rPr lang="en-US" dirty="0" err="1"/>
              <a:t>AreaDefinition</a:t>
            </a:r>
            <a:r>
              <a:rPr lang="en-US" dirty="0"/>
              <a:t> list for icebergs from a parsed track files (list to </a:t>
            </a:r>
            <a:r>
              <a:rPr lang="en-US" dirty="0" err="1"/>
              <a:t>AreaDefinition</a:t>
            </a:r>
            <a:r>
              <a:rPr lang="en-US" dirty="0"/>
              <a:t>)</a:t>
            </a:r>
          </a:p>
          <a:p>
            <a:r>
              <a:rPr lang="en-US" dirty="0"/>
              <a:t>Modified sector metadata generators class to accept icebergs as an additional parser class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B9660-8CE9-921D-8D39-D383D75C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88166E-ED1A-41C4-A224-4E58EB97C4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9F09-2E83-DD56-10C1-9CC514CA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Components: </a:t>
            </a:r>
            <a:r>
              <a:rPr lang="en-US" dirty="0" err="1"/>
              <a:t>TrackFile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770981-7C1E-B417-BC30-861009A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1B7B3-46B3-66D8-5F71-FC4753ADE04F}"/>
              </a:ext>
            </a:extLst>
          </p:cNvPr>
          <p:cNvSpPr txBox="1"/>
          <p:nvPr/>
        </p:nvSpPr>
        <p:spPr>
          <a:xfrm>
            <a:off x="838199" y="1801450"/>
            <a:ext cx="74940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Created a multi-time file from daily iceberg reports from the USNIC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Formatted file that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Latitude (required)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Longitude (required)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Time (required)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Relevant metadata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FEF650-1ECC-2363-D5D8-2635846D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01" y="3429000"/>
            <a:ext cx="6991470" cy="243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6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BD0B-C8A2-878C-8D65-3E88085A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870D-A4B8-F361-BD0D-266CB0AB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Components: </a:t>
            </a:r>
            <a:r>
              <a:rPr lang="en-US" dirty="0" err="1"/>
              <a:t>Trackfile</a:t>
            </a:r>
            <a:r>
              <a:rPr lang="en-US" dirty="0"/>
              <a:t> parser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C83C4-6244-E538-CFB0-655A7811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C4013-B755-7A4A-5814-244725812E80}"/>
              </a:ext>
            </a:extLst>
          </p:cNvPr>
          <p:cNvSpPr txBox="1"/>
          <p:nvPr/>
        </p:nvSpPr>
        <p:spPr>
          <a:xfrm>
            <a:off x="838200" y="1801450"/>
            <a:ext cx="4815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Translates data from </a:t>
            </a:r>
            <a:r>
              <a:rPr lang="en-US" sz="2400" dirty="0" err="1"/>
              <a:t>trackfile</a:t>
            </a:r>
            <a:r>
              <a:rPr lang="en-US" sz="2400" dirty="0"/>
              <a:t> into a list of dictionaries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Minimum required information: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Latitude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Longitude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034BE-6D73-508B-B3A0-C603337C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1450"/>
            <a:ext cx="5763083" cy="42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2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2D58-9639-131C-F7BF-FEA8BD87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Components: Parser to </a:t>
            </a:r>
            <a:r>
              <a:rPr lang="en-US" dirty="0" err="1"/>
              <a:t>AreaDefinition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4C402-9CCE-B5C8-EB5C-80ECCC00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79AE4-6875-77AC-A297-408165863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995" y="2447773"/>
            <a:ext cx="4986805" cy="3908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B1DE5-2C22-FADE-1352-1541751CE95E}"/>
              </a:ext>
            </a:extLst>
          </p:cNvPr>
          <p:cNvSpPr txBox="1"/>
          <p:nvPr/>
        </p:nvSpPr>
        <p:spPr>
          <a:xfrm>
            <a:off x="701040" y="1981200"/>
            <a:ext cx="5394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Iteratively transforms the iceberg parsed information into area definitions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start and end datetimes, which help sector the dataset in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Calls the </a:t>
            </a:r>
            <a:r>
              <a:rPr lang="en-US" sz="2400" dirty="0" err="1"/>
              <a:t>center_coordinate</a:t>
            </a:r>
            <a:r>
              <a:rPr lang="en-US" sz="2400" dirty="0"/>
              <a:t> sector spec generator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92BA4D-C716-D629-C3FC-723D057CF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980" y="1457567"/>
            <a:ext cx="4989820" cy="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2CF26-6AE9-A308-165B-5974D37E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75AE-74C3-0266-8F5A-AEA9A18A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Sector Imagery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7CDCE-5871-E394-4171-2CD1D863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832B-F518-45BA-B002-7932153AA230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A picture containing text, outdoor, slope&#10;&#10;AI-generated content may be incorrect.">
            <a:extLst>
              <a:ext uri="{FF2B5EF4-FFF2-40B4-BE49-F238E27FC236}">
                <a16:creationId xmlns:a16="http://schemas.microsoft.com/office/drawing/2014/main" id="{0F73F095-7507-B8D2-0FD2-1A8387663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88" y="833164"/>
            <a:ext cx="5455351" cy="5523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A153C7-177A-C218-5108-6577C47B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79" y="2506883"/>
            <a:ext cx="5439234" cy="18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1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771</Words>
  <Application>Microsoft Office PowerPoint</Application>
  <PresentationFormat>Widescreen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GeoIPS Workshop 2026:  Sectors</vt:lpstr>
      <vt:lpstr>Overview</vt:lpstr>
      <vt:lpstr>GeoIPS sectors</vt:lpstr>
      <vt:lpstr>Tools for sectors</vt:lpstr>
      <vt:lpstr>Static Example</vt:lpstr>
      <vt:lpstr>Static Sector Capabilities </vt:lpstr>
      <vt:lpstr>Problem: Oil Spill outside of Veracruz</vt:lpstr>
      <vt:lpstr>Static Sector Example </vt:lpstr>
      <vt:lpstr>Problem: Oil Spill outside of Veracruz</vt:lpstr>
      <vt:lpstr>Static Sector Example: Derived Values</vt:lpstr>
      <vt:lpstr>Static Sector: Applied</vt:lpstr>
      <vt:lpstr>PowerPoint Presentation</vt:lpstr>
      <vt:lpstr>Dynamic Example</vt:lpstr>
      <vt:lpstr>Dynamic Sector Capabilities </vt:lpstr>
      <vt:lpstr>Dynamic Sector Example</vt:lpstr>
      <vt:lpstr>Changes needed for implementation</vt:lpstr>
      <vt:lpstr>Dynamic Sector Components: TrackFile</vt:lpstr>
      <vt:lpstr>Dynamic Sector Components: Trackfile parser</vt:lpstr>
      <vt:lpstr>Dynamic Sector Components: Parser to AreaDefinition</vt:lpstr>
      <vt:lpstr>Dynamic Sector Imagery</vt:lpstr>
    </vt:vector>
  </TitlesOfParts>
  <Company>U.S. Department of Defense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Thorpe, Andrew J CTR (USA)</dc:creator>
  <cp:lastModifiedBy>Thorpe, Andrew J CTR (USA)</cp:lastModifiedBy>
  <cp:revision>3</cp:revision>
  <dcterms:created xsi:type="dcterms:W3CDTF">2026-07-21T14:57:35Z</dcterms:created>
  <dcterms:modified xsi:type="dcterms:W3CDTF">2026-07-21T16:49:17Z</dcterms:modified>
</cp:coreProperties>
</file>